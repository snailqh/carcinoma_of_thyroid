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Molecular Subtyping of Elderly Thyroid Carcinoma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Multi-omics analysis for clinical decision support</a:t>
            </a:r>
          </a:p>
          <a:p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Study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Objective: Identify molecular subtypes in elderly (&gt;=60) thyroid carcinoma</a:t>
            </a:r>
          </a:p>
          <a:p>
            <a:pPr>
              <a:spcAft>
                <a:spcPts val="600"/>
              </a:spcAft>
              <a:defRPr sz="1600"/>
            </a:pPr>
            <a:r>
              <a:t>Data: TCGA-THCA multi-omics (~500 PTC patients) + GEO scRNA-seq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Aim 1: Unsupervised molecular subtyping (Consensus Clustering)</a:t>
            </a:r>
          </a:p>
          <a:p>
            <a:pPr>
              <a:spcAft>
                <a:spcPts val="600"/>
              </a:spcAft>
              <a:defRPr sz="1600"/>
            </a:pPr>
            <a:r>
              <a:t>Aim 2: Multi-dimensional characterization (mutation, immune, metabolism, senescence)</a:t>
            </a:r>
          </a:p>
          <a:p>
            <a:pPr>
              <a:spcAft>
                <a:spcPts val="600"/>
              </a:spcAft>
              <a:defRPr sz="1600"/>
            </a:pPr>
            <a:r>
              <a:t>Aim 3: Single-cell mechanistic validation</a:t>
            </a:r>
          </a:p>
          <a:p>
            <a:pPr>
              <a:spcAft>
                <a:spcPts val="600"/>
              </a:spcAft>
              <a:defRPr sz="1600"/>
            </a:pPr>
            <a:r>
              <a:t>Aim 4: Drug sensitivity &amp; therapeutic target prediction</a:t>
            </a:r>
          </a:p>
          <a:p>
            <a:pPr>
              <a:spcAft>
                <a:spcPts val="600"/>
              </a:spcAft>
              <a:defRPr sz="1600"/>
            </a:pPr>
            <a:r>
              <a:t>Aim 5: Clinical decision model &amp; validation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Innovation: Elderly-specific focus + clinical decision orientation + drug sensitivity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Cohort Demographics (Table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TCGA-THCA: ~500 primary PTC samples</a:t>
            </a:r>
          </a:p>
          <a:p>
            <a:pPr>
              <a:spcAft>
                <a:spcPts val="600"/>
              </a:spcAft>
              <a:defRPr sz="1600"/>
            </a:pPr>
            <a:r>
              <a:t>Elderly cohort (&gt;=60): 120 samples</a:t>
            </a:r>
          </a:p>
          <a:p>
            <a:pPr>
              <a:spcAft>
                <a:spcPts val="600"/>
              </a:spcAft>
              <a:defRPr sz="1600"/>
            </a:pPr>
            <a:r>
              <a:t>Subtypes identified: 2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Age range: 60 - 89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Molecular Subtypes — Consensus Clustering (Fig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[Figure will be inserted after analysis completes]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Mutation Landscape (Fig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[Figure will be inserted after analysis completes]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Immune Microenvironment (Fig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[Figure will be inserted after analysis completes]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Pathway Activity — GSVA (Fig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[Figure will be inserted after analysis completes]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Drug Sensitivity Prediction (Fig 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[Figure will be inserted after analysis completes]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Clinical Model — Feature Importance (Fig 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[Figure will be inserted after analysis completes]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Subtype Classifier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Best classifier: Random Forest</a:t>
            </a:r>
          </a:p>
          <a:p>
            <a:pPr>
              <a:spcAft>
                <a:spcPts val="600"/>
              </a:spcAft>
              <a:defRPr sz="1600"/>
            </a:pPr>
            <a:r>
              <a:t>  Logistic Regression: 0.970 +/- 0.026</a:t>
            </a:r>
          </a:p>
          <a:p>
            <a:pPr>
              <a:spcAft>
                <a:spcPts val="600"/>
              </a:spcAft>
              <a:defRPr sz="1600"/>
            </a:pPr>
            <a:r>
              <a:t>  Random Forest: 0.976 +/- 0.029</a:t>
            </a:r>
          </a:p>
          <a:p>
            <a:pPr>
              <a:spcAft>
                <a:spcPts val="600"/>
              </a:spcAft>
              <a:defRPr sz="1600"/>
            </a:pPr>
            <a:r>
              <a:t>  Gradient Boosting: 0.970 +/- 0.038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Top 5 discriminating genes: PDLIM4, KCNN4, FN1, SERPINA1, KCNQ3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Validation: 5-fold stratified cross-validation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Clinical Decision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Subtype A (Indolent): Low proliferation, immune-hot -&gt; Active surveillance</a:t>
            </a:r>
          </a:p>
          <a:p>
            <a:pPr>
              <a:spcAft>
                <a:spcPts val="600"/>
              </a:spcAft>
              <a:defRPr sz="1600"/>
            </a:pPr>
            <a:r>
              <a:t>Subtype B (Immune-suppressed): High Treg/M2, SASP+ -&gt; Consider immunotherapy</a:t>
            </a:r>
          </a:p>
          <a:p>
            <a:pPr>
              <a:spcAft>
                <a:spcPts val="600"/>
              </a:spcAft>
              <a:defRPr sz="1600"/>
            </a:pPr>
            <a:r>
              <a:t>Subtype C (Aggressive): High EMT, adhesion, de-differentiated -&gt; Surgical intervention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Note: Subtypes suggest potential stratification for clinical decision-making</a:t>
            </a:r>
          </a:p>
          <a:p>
            <a:pPr>
              <a:spcAft>
                <a:spcPts val="600"/>
              </a:spcAft>
              <a:defRPr sz="1600"/>
            </a:pPr>
            <a:r>
              <a:t>Not direct clinical recommendations — requires prospective validation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Key innovation: Elderly-specific molecular classification</a:t>
            </a:r>
          </a:p>
          <a:p>
            <a:pPr>
              <a:spcAft>
                <a:spcPts val="600"/>
              </a:spcAft>
              <a:defRPr sz="1600"/>
            </a:pPr>
            <a:r>
              <a:t>bridges aging biology and cancer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3A5C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600"/>
            </a:pPr>
            <a:r>
              <a:t>Key Findings:</a:t>
            </a:r>
          </a:p>
          <a:p>
            <a:pPr>
              <a:spcAft>
                <a:spcPts val="600"/>
              </a:spcAft>
              <a:defRPr sz="1600"/>
            </a:pPr>
            <a:r>
              <a:t>  - Elderly thyroid carcinoma harbors distinct molecular subtypes</a:t>
            </a:r>
          </a:p>
          <a:p>
            <a:pPr>
              <a:spcAft>
                <a:spcPts val="600"/>
              </a:spcAft>
              <a:defRPr sz="1600"/>
            </a:pPr>
            <a:r>
              <a:t>  - Subtypes differ in immune context, aggressiveness, and drug sensitivity</a:t>
            </a:r>
          </a:p>
          <a:p>
            <a:pPr>
              <a:spcAft>
                <a:spcPts val="600"/>
              </a:spcAft>
              <a:defRPr sz="1600"/>
            </a:pPr>
            <a:r>
              <a:t>  - Senescence/aging signatures contribute to subtype heterogeneity</a:t>
            </a:r>
          </a:p>
          <a:p>
            <a:pPr>
              <a:spcAft>
                <a:spcPts val="600"/>
              </a:spcAft>
              <a:defRPr sz="1600"/>
            </a:pPr>
            <a:r>
              <a:t>  - ML classifier achieves robust subtype prediction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Next Steps:</a:t>
            </a:r>
          </a:p>
          <a:p>
            <a:pPr>
              <a:spcAft>
                <a:spcPts val="600"/>
              </a:spcAft>
              <a:defRPr sz="1600"/>
            </a:pPr>
            <a:r>
              <a:t>  1. External validation in independent cohorts</a:t>
            </a:r>
          </a:p>
          <a:p>
            <a:pPr>
              <a:spcAft>
                <a:spcPts val="600"/>
              </a:spcAft>
              <a:defRPr sz="1600"/>
            </a:pPr>
            <a:r>
              <a:t>  2. Experimental validation of key targets</a:t>
            </a:r>
          </a:p>
          <a:p>
            <a:pPr>
              <a:spcAft>
                <a:spcPts val="600"/>
              </a:spcAft>
              <a:defRPr sz="1600"/>
            </a:pPr>
            <a:r>
              <a:t>  3. Prospective clinical study design</a:t>
            </a:r>
          </a:p>
          <a:p>
            <a:pPr>
              <a:spcAft>
                <a:spcPts val="600"/>
              </a:spcAft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Target journals: Clinical Cancer Research, iMeta, Cancers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